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2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1" r:id="rId9"/>
    <p:sldId id="263" r:id="rId10"/>
    <p:sldId id="260" r:id="rId11"/>
    <p:sldId id="264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48" y="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tockChart>
        <c:ser>
          <c:idx val="1"/>
          <c:order val="0"/>
          <c:tx>
            <c:strRef>
              <c:f>Sheet1!$C$1</c:f>
              <c:strCache>
                <c:ptCount val="1"/>
                <c:pt idx="0">
                  <c:v>Open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47-46B4-AD93-192D80B04C89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47-46B4-AD93-192D80B04C89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347-46B4-AD93-192D80B04C89}"/>
            </c:ext>
          </c:extLst>
        </c:ser>
        <c:ser>
          <c:idx val="4"/>
          <c:order val="3"/>
          <c:tx>
            <c:strRef>
              <c:f>Sheet1!$F$1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347-46B4-AD93-192D80B04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8650936"/>
        <c:axId val="438651920"/>
      </c:stockChart>
      <c:catAx>
        <c:axId val="4386509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38651920"/>
        <c:crosses val="autoZero"/>
        <c:auto val="1"/>
        <c:lblAlgn val="ctr"/>
        <c:lblOffset val="100"/>
        <c:noMultiLvlLbl val="0"/>
      </c:catAx>
      <c:valAx>
        <c:axId val="4386519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86509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noProof="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tockChart>
        <c:ser>
          <c:idx val="1"/>
          <c:order val="0"/>
          <c:tx>
            <c:strRef>
              <c:f>Sheet1!$C$1</c:f>
              <c:strCache>
                <c:ptCount val="1"/>
                <c:pt idx="0">
                  <c:v>Open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47-46B4-AD93-192D80B04C89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47-46B4-AD93-192D80B04C89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347-46B4-AD93-192D80B04C89}"/>
            </c:ext>
          </c:extLst>
        </c:ser>
        <c:ser>
          <c:idx val="4"/>
          <c:order val="3"/>
          <c:tx>
            <c:strRef>
              <c:f>Sheet1!$F$1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347-46B4-AD93-192D80B04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8650936"/>
        <c:axId val="438651920"/>
      </c:stockChart>
      <c:catAx>
        <c:axId val="4386509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38651920"/>
        <c:crosses val="autoZero"/>
        <c:auto val="1"/>
        <c:lblAlgn val="ctr"/>
        <c:lblOffset val="100"/>
        <c:noMultiLvlLbl val="0"/>
      </c:catAx>
      <c:valAx>
        <c:axId val="4386519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86509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noProof="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tockChart>
        <c:ser>
          <c:idx val="1"/>
          <c:order val="0"/>
          <c:tx>
            <c:strRef>
              <c:f>Sheet1!$C$1</c:f>
              <c:strCache>
                <c:ptCount val="1"/>
                <c:pt idx="0">
                  <c:v>Open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47-46B4-AD93-192D80B04C89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47-46B4-AD93-192D80B04C89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347-46B4-AD93-192D80B04C89}"/>
            </c:ext>
          </c:extLst>
        </c:ser>
        <c:ser>
          <c:idx val="4"/>
          <c:order val="3"/>
          <c:tx>
            <c:strRef>
              <c:f>Sheet1!$F$1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1/5/20YY</c:v>
                </c:pt>
                <c:pt idx="1">
                  <c:v>1/6/20YY</c:v>
                </c:pt>
                <c:pt idx="2">
                  <c:v>1/7/20YY</c:v>
                </c:pt>
                <c:pt idx="3">
                  <c:v>1/8/20YY</c:v>
                </c:pt>
                <c:pt idx="4">
                  <c:v>1/9/20YY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347-46B4-AD93-192D80B04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8650936"/>
        <c:axId val="438651920"/>
      </c:stockChart>
      <c:catAx>
        <c:axId val="4386509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38651920"/>
        <c:crosses val="autoZero"/>
        <c:auto val="1"/>
        <c:lblAlgn val="ctr"/>
        <c:lblOffset val="100"/>
        <c:noMultiLvlLbl val="0"/>
      </c:catAx>
      <c:valAx>
        <c:axId val="4386519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86509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noProof="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6">
  <a:schemeClr val="accent4"/>
  <a:schemeClr val="accent4"/>
  <a:schemeClr val="accent4"/>
  <a:schemeClr val="accent4"/>
  <a:schemeClr val="accent4"/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6">
  <a:schemeClr val="accent4"/>
  <a:schemeClr val="accent4"/>
  <a:schemeClr val="accent4"/>
  <a:schemeClr val="accent4"/>
  <a:schemeClr val="accent4"/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6">
  <a:schemeClr val="accent4"/>
  <a:schemeClr val="accent4"/>
  <a:schemeClr val="accent4"/>
  <a:schemeClr val="accent4"/>
  <a:schemeClr val="accent4"/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B432F4-5FDB-4518-9272-2F3934AC6AA2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633A646-2062-4841-AF18-847B074C67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The problem: Customer retention is cheaper than acquisition. Losing customers cost </a:t>
          </a:r>
          <a:r>
            <a:rPr lang="en-US" noProof="0" dirty="0" err="1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SyriaTel</a:t>
          </a:r>
          <a:r>
            <a:rPr lang="en-US" noProof="0" dirty="0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 revenue and market share</a:t>
          </a:r>
          <a:endParaRPr lang="en-US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DB4A5689-BD48-4D3D-8017-D1E3C49B0DDB}" type="parTrans" cxnId="{56ADA02B-9055-4F39-B74D-2D556F11DDB6}">
      <dgm:prSet/>
      <dgm:spPr/>
      <dgm:t>
        <a:bodyPr/>
        <a:lstStyle/>
        <a:p>
          <a:endParaRPr lang="en-US" noProof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1397C75F-5FD8-4120-9A24-A246D042942B}" type="sibTrans" cxnId="{56ADA02B-9055-4F39-B74D-2D556F11DDB6}">
      <dgm:prSet/>
      <dgm:spPr/>
      <dgm:t>
        <a:bodyPr/>
        <a:lstStyle/>
        <a:p>
          <a:endParaRPr lang="en-US" noProof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14BC708E-A0A1-4102-88E4-E75128B4E5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The goal: Move from reactive (fixing problem after they leave) to proactive (identifying risk before they leave)</a:t>
          </a:r>
          <a:endParaRPr lang="en-US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CF221EFF-354A-47A9-A498-1F0BBF01ECB8}" type="parTrans" cxnId="{EB9839C5-F324-41C4-8950-5284E09FB71E}">
      <dgm:prSet/>
      <dgm:spPr/>
      <dgm:t>
        <a:bodyPr/>
        <a:lstStyle/>
        <a:p>
          <a:endParaRPr lang="en-US" noProof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7519C821-85FB-4CA3-BEB5-E4BFBC529B83}" type="sibTrans" cxnId="{EB9839C5-F324-41C4-8950-5284E09FB71E}">
      <dgm:prSet/>
      <dgm:spPr/>
      <dgm:t>
        <a:bodyPr/>
        <a:lstStyle/>
        <a:p>
          <a:endParaRPr lang="en-US" noProof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C6D21269-399B-4BA2-8621-C7B9DA1E1B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The solution: A predictive model to flag high risk customers,</a:t>
          </a:r>
          <a:endParaRPr lang="en-US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AA3929B3-1058-4240-AD5D-9518D4976567}" type="parTrans" cxnId="{E4AD895B-72A4-4A6B-A7F4-C77A53EC51BC}">
      <dgm:prSet/>
      <dgm:spPr/>
      <dgm:t>
        <a:bodyPr/>
        <a:lstStyle/>
        <a:p>
          <a:endParaRPr lang="en-US" noProof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C79B0F2C-DDB4-44EB-89F7-717146B88B10}" type="sibTrans" cxnId="{E4AD895B-72A4-4A6B-A7F4-C77A53EC51BC}">
      <dgm:prSet/>
      <dgm:spPr/>
      <dgm:t>
        <a:bodyPr/>
        <a:lstStyle/>
        <a:p>
          <a:endParaRPr lang="en-US" noProof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D40A0249-41A7-44A6-A657-361E8C18FD42}" type="pres">
      <dgm:prSet presAssocID="{E1B432F4-5FDB-4518-9272-2F3934AC6AA2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D1F47A2-8F6C-4C7F-B3B3-2100C986DE32}" type="pres">
      <dgm:prSet presAssocID="{B633A646-2062-4841-AF18-847B074C6716}" presName="compNode" presStyleCnt="0"/>
      <dgm:spPr/>
    </dgm:pt>
    <dgm:pt modelId="{EC4D957C-BFAC-446D-9573-48333BEC34E6}" type="pres">
      <dgm:prSet presAssocID="{B633A646-2062-4841-AF18-847B074C6716}" presName="bgRect" presStyleLbl="bgShp" presStyleIdx="0" presStyleCnt="3"/>
      <dgm:spPr>
        <a:prstGeom prst="rect">
          <a:avLst/>
        </a:prstGeom>
        <a:solidFill>
          <a:schemeClr val="tx1">
            <a:alpha val="70000"/>
          </a:schemeClr>
        </a:solidFill>
      </dgm:spPr>
    </dgm:pt>
    <dgm:pt modelId="{BE6B2CCF-B717-4C6F-9115-44EF0ECE6018}" type="pres">
      <dgm:prSet presAssocID="{B633A646-2062-4841-AF18-847B074C6716}" presName="iconRect" presStyleLbl="node1" presStyleIdx="0" presStyleCnt="3" custScaleX="75132" custScaleY="7513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95420642-092B-41B9-94FA-E0EC36F9AF7E}" type="pres">
      <dgm:prSet presAssocID="{B633A646-2062-4841-AF18-847B074C6716}" presName="spaceRect" presStyleCnt="0"/>
      <dgm:spPr/>
    </dgm:pt>
    <dgm:pt modelId="{C95AF6F0-F4DA-48FE-85EB-61ADFB42AA13}" type="pres">
      <dgm:prSet presAssocID="{B633A646-2062-4841-AF18-847B074C6716}" presName="parTx" presStyleLbl="revTx" presStyleIdx="0" presStyleCnt="3" custScaleX="11810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1DD96AA-8DD7-4B07-A561-5C9B41ACFA3C}" type="pres">
      <dgm:prSet presAssocID="{1397C75F-5FD8-4120-9A24-A246D042942B}" presName="sibTrans" presStyleCnt="0"/>
      <dgm:spPr/>
    </dgm:pt>
    <dgm:pt modelId="{38E06421-A6BB-4D10-8565-2812C2C5C6B3}" type="pres">
      <dgm:prSet presAssocID="{14BC708E-A0A1-4102-88E4-E75128B4E51E}" presName="compNode" presStyleCnt="0"/>
      <dgm:spPr/>
    </dgm:pt>
    <dgm:pt modelId="{79919C57-A32A-40F6-B106-B4E0CE644E4C}" type="pres">
      <dgm:prSet presAssocID="{14BC708E-A0A1-4102-88E4-E75128B4E51E}" presName="bgRect" presStyleLbl="bgShp" presStyleIdx="1" presStyleCnt="3"/>
      <dgm:spPr>
        <a:xfrm>
          <a:off x="0" y="1760029"/>
          <a:ext cx="5607050" cy="1407541"/>
        </a:xfrm>
        <a:prstGeom prst="rect">
          <a:avLst/>
        </a:prstGeom>
        <a:solidFill>
          <a:srgbClr val="000000">
            <a:alpha val="70000"/>
          </a:srgbClr>
        </a:solidFill>
        <a:ln>
          <a:noFill/>
        </a:ln>
        <a:effectLst/>
      </dgm:spPr>
    </dgm:pt>
    <dgm:pt modelId="{99FDF55F-B3E9-423D-AD21-A6446C5D7455}" type="pres">
      <dgm:prSet presAssocID="{14BC708E-A0A1-4102-88E4-E75128B4E51E}" presName="iconRect" presStyleLbl="node1" presStyleIdx="1" presStyleCnt="3" custScaleX="75132" custScaleY="7513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98BD5F1-E6F1-491F-A8EE-6A9AD649521E}" type="pres">
      <dgm:prSet presAssocID="{14BC708E-A0A1-4102-88E4-E75128B4E51E}" presName="spaceRect" presStyleCnt="0"/>
      <dgm:spPr/>
    </dgm:pt>
    <dgm:pt modelId="{80F6AD63-74FB-40E4-9D40-4178AFD87F60}" type="pres">
      <dgm:prSet presAssocID="{14BC708E-A0A1-4102-88E4-E75128B4E51E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375F890-B8F8-4966-ABCD-B672FD4512B7}" type="pres">
      <dgm:prSet presAssocID="{7519C821-85FB-4CA3-BEB5-E4BFBC529B83}" presName="sibTrans" presStyleCnt="0"/>
      <dgm:spPr/>
    </dgm:pt>
    <dgm:pt modelId="{9887B295-B446-4B8E-AEA4-76754DE9DD89}" type="pres">
      <dgm:prSet presAssocID="{C6D21269-399B-4BA2-8621-C7B9DA1E1B8F}" presName="compNode" presStyleCnt="0"/>
      <dgm:spPr/>
    </dgm:pt>
    <dgm:pt modelId="{436A8B1C-2D30-44BB-9150-7099503C8960}" type="pres">
      <dgm:prSet presAssocID="{C6D21269-399B-4BA2-8621-C7B9DA1E1B8F}" presName="bgRect" presStyleLbl="bgShp" presStyleIdx="2" presStyleCnt="3"/>
      <dgm:spPr>
        <a:xfrm>
          <a:off x="0" y="3519456"/>
          <a:ext cx="5607050" cy="1407541"/>
        </a:xfrm>
        <a:prstGeom prst="rect">
          <a:avLst/>
        </a:prstGeom>
        <a:solidFill>
          <a:srgbClr val="000000">
            <a:alpha val="70000"/>
          </a:srgbClr>
        </a:solidFill>
        <a:ln>
          <a:noFill/>
        </a:ln>
        <a:effectLst/>
      </dgm:spPr>
    </dgm:pt>
    <dgm:pt modelId="{1A8B8B62-3037-4506-89D7-28710774070B}" type="pres">
      <dgm:prSet presAssocID="{C6D21269-399B-4BA2-8621-C7B9DA1E1B8F}" presName="iconRect" presStyleLbl="node1" presStyleIdx="2" presStyleCnt="3" custScaleX="68302" custScaleY="6830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2FFC6342-A780-4396-8FAC-8E7FAE77A6E2}" type="pres">
      <dgm:prSet presAssocID="{C6D21269-399B-4BA2-8621-C7B9DA1E1B8F}" presName="spaceRect" presStyleCnt="0"/>
      <dgm:spPr/>
    </dgm:pt>
    <dgm:pt modelId="{D5847293-6F0A-4807-B203-585610F4F535}" type="pres">
      <dgm:prSet presAssocID="{C6D21269-399B-4BA2-8621-C7B9DA1E1B8F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0F0438E4-D0CA-47DC-8484-BFD8CF753812}" type="presOf" srcId="{C6D21269-399B-4BA2-8621-C7B9DA1E1B8F}" destId="{D5847293-6F0A-4807-B203-585610F4F535}" srcOrd="0" destOrd="0" presId="urn:microsoft.com/office/officeart/2018/2/layout/IconVerticalSolidList"/>
    <dgm:cxn modelId="{EB9839C5-F324-41C4-8950-5284E09FB71E}" srcId="{E1B432F4-5FDB-4518-9272-2F3934AC6AA2}" destId="{14BC708E-A0A1-4102-88E4-E75128B4E51E}" srcOrd="1" destOrd="0" parTransId="{CF221EFF-354A-47A9-A498-1F0BBF01ECB8}" sibTransId="{7519C821-85FB-4CA3-BEB5-E4BFBC529B83}"/>
    <dgm:cxn modelId="{E4AD895B-72A4-4A6B-A7F4-C77A53EC51BC}" srcId="{E1B432F4-5FDB-4518-9272-2F3934AC6AA2}" destId="{C6D21269-399B-4BA2-8621-C7B9DA1E1B8F}" srcOrd="2" destOrd="0" parTransId="{AA3929B3-1058-4240-AD5D-9518D4976567}" sibTransId="{C79B0F2C-DDB4-44EB-89F7-717146B88B10}"/>
    <dgm:cxn modelId="{282E4C31-D2E4-4F2E-B7E4-7F072B61355B}" type="presOf" srcId="{E1B432F4-5FDB-4518-9272-2F3934AC6AA2}" destId="{D40A0249-41A7-44A6-A657-361E8C18FD42}" srcOrd="0" destOrd="0" presId="urn:microsoft.com/office/officeart/2018/2/layout/IconVerticalSolidList"/>
    <dgm:cxn modelId="{944ABB28-0B7D-40F0-8726-3385D62BD567}" type="presOf" srcId="{B633A646-2062-4841-AF18-847B074C6716}" destId="{C95AF6F0-F4DA-48FE-85EB-61ADFB42AA13}" srcOrd="0" destOrd="0" presId="urn:microsoft.com/office/officeart/2018/2/layout/IconVerticalSolidList"/>
    <dgm:cxn modelId="{56ADA02B-9055-4F39-B74D-2D556F11DDB6}" srcId="{E1B432F4-5FDB-4518-9272-2F3934AC6AA2}" destId="{B633A646-2062-4841-AF18-847B074C6716}" srcOrd="0" destOrd="0" parTransId="{DB4A5689-BD48-4D3D-8017-D1E3C49B0DDB}" sibTransId="{1397C75F-5FD8-4120-9A24-A246D042942B}"/>
    <dgm:cxn modelId="{4A4BD2E1-F579-4CB0-A349-6E4A603D3C1F}" type="presOf" srcId="{14BC708E-A0A1-4102-88E4-E75128B4E51E}" destId="{80F6AD63-74FB-40E4-9D40-4178AFD87F60}" srcOrd="0" destOrd="0" presId="urn:microsoft.com/office/officeart/2018/2/layout/IconVerticalSolidList"/>
    <dgm:cxn modelId="{07CEADA1-F123-4E4C-9E9E-EDC53C6A9D42}" type="presParOf" srcId="{D40A0249-41A7-44A6-A657-361E8C18FD42}" destId="{7D1F47A2-8F6C-4C7F-B3B3-2100C986DE32}" srcOrd="0" destOrd="0" presId="urn:microsoft.com/office/officeart/2018/2/layout/IconVerticalSolidList"/>
    <dgm:cxn modelId="{F2FB5DCA-E48C-4F18-9E21-40A8BA4E97C5}" type="presParOf" srcId="{7D1F47A2-8F6C-4C7F-B3B3-2100C986DE32}" destId="{EC4D957C-BFAC-446D-9573-48333BEC34E6}" srcOrd="0" destOrd="0" presId="urn:microsoft.com/office/officeart/2018/2/layout/IconVerticalSolidList"/>
    <dgm:cxn modelId="{A830D3AF-7E56-4163-A545-B5B0E5253A32}" type="presParOf" srcId="{7D1F47A2-8F6C-4C7F-B3B3-2100C986DE32}" destId="{BE6B2CCF-B717-4C6F-9115-44EF0ECE6018}" srcOrd="1" destOrd="0" presId="urn:microsoft.com/office/officeart/2018/2/layout/IconVerticalSolidList"/>
    <dgm:cxn modelId="{C133A968-EF32-4D7B-99AB-467DBC63AA65}" type="presParOf" srcId="{7D1F47A2-8F6C-4C7F-B3B3-2100C986DE32}" destId="{95420642-092B-41B9-94FA-E0EC36F9AF7E}" srcOrd="2" destOrd="0" presId="urn:microsoft.com/office/officeart/2018/2/layout/IconVerticalSolidList"/>
    <dgm:cxn modelId="{D41F3259-A36F-405E-9981-26F5153F9ECE}" type="presParOf" srcId="{7D1F47A2-8F6C-4C7F-B3B3-2100C986DE32}" destId="{C95AF6F0-F4DA-48FE-85EB-61ADFB42AA13}" srcOrd="3" destOrd="0" presId="urn:microsoft.com/office/officeart/2018/2/layout/IconVerticalSolidList"/>
    <dgm:cxn modelId="{23EAD705-80C2-4A13-8B46-0FDB076A4FC2}" type="presParOf" srcId="{D40A0249-41A7-44A6-A657-361E8C18FD42}" destId="{51DD96AA-8DD7-4B07-A561-5C9B41ACFA3C}" srcOrd="1" destOrd="0" presId="urn:microsoft.com/office/officeart/2018/2/layout/IconVerticalSolidList"/>
    <dgm:cxn modelId="{37270FB1-E3CB-4E7A-934D-8AD3CE1A6A9C}" type="presParOf" srcId="{D40A0249-41A7-44A6-A657-361E8C18FD42}" destId="{38E06421-A6BB-4D10-8565-2812C2C5C6B3}" srcOrd="2" destOrd="0" presId="urn:microsoft.com/office/officeart/2018/2/layout/IconVerticalSolidList"/>
    <dgm:cxn modelId="{A2720370-712D-409A-A691-A76A6B58E669}" type="presParOf" srcId="{38E06421-A6BB-4D10-8565-2812C2C5C6B3}" destId="{79919C57-A32A-40F6-B106-B4E0CE644E4C}" srcOrd="0" destOrd="0" presId="urn:microsoft.com/office/officeart/2018/2/layout/IconVerticalSolidList"/>
    <dgm:cxn modelId="{7F0D094D-67F9-4096-8C3F-6FB86443B146}" type="presParOf" srcId="{38E06421-A6BB-4D10-8565-2812C2C5C6B3}" destId="{99FDF55F-B3E9-423D-AD21-A6446C5D7455}" srcOrd="1" destOrd="0" presId="urn:microsoft.com/office/officeart/2018/2/layout/IconVerticalSolidList"/>
    <dgm:cxn modelId="{A46EF107-6809-4A78-A437-DA4FD0910124}" type="presParOf" srcId="{38E06421-A6BB-4D10-8565-2812C2C5C6B3}" destId="{E98BD5F1-E6F1-491F-A8EE-6A9AD649521E}" srcOrd="2" destOrd="0" presId="urn:microsoft.com/office/officeart/2018/2/layout/IconVerticalSolidList"/>
    <dgm:cxn modelId="{A2F04EF7-8EDA-4B91-A3BA-95A8C47F2083}" type="presParOf" srcId="{38E06421-A6BB-4D10-8565-2812C2C5C6B3}" destId="{80F6AD63-74FB-40E4-9D40-4178AFD87F60}" srcOrd="3" destOrd="0" presId="urn:microsoft.com/office/officeart/2018/2/layout/IconVerticalSolidList"/>
    <dgm:cxn modelId="{600447EF-7DA9-4818-8D45-C741C5E6B34A}" type="presParOf" srcId="{D40A0249-41A7-44A6-A657-361E8C18FD42}" destId="{1375F890-B8F8-4966-ABCD-B672FD4512B7}" srcOrd="3" destOrd="0" presId="urn:microsoft.com/office/officeart/2018/2/layout/IconVerticalSolidList"/>
    <dgm:cxn modelId="{678E6197-2DF8-487D-80B8-DC5109CCDD3F}" type="presParOf" srcId="{D40A0249-41A7-44A6-A657-361E8C18FD42}" destId="{9887B295-B446-4B8E-AEA4-76754DE9DD89}" srcOrd="4" destOrd="0" presId="urn:microsoft.com/office/officeart/2018/2/layout/IconVerticalSolidList"/>
    <dgm:cxn modelId="{27C0A3EB-AFC3-4068-98D6-97C2AE9FB8D1}" type="presParOf" srcId="{9887B295-B446-4B8E-AEA4-76754DE9DD89}" destId="{436A8B1C-2D30-44BB-9150-7099503C8960}" srcOrd="0" destOrd="0" presId="urn:microsoft.com/office/officeart/2018/2/layout/IconVerticalSolidList"/>
    <dgm:cxn modelId="{3914B107-20DC-4ED8-B86C-19F61BC45DBB}" type="presParOf" srcId="{9887B295-B446-4B8E-AEA4-76754DE9DD89}" destId="{1A8B8B62-3037-4506-89D7-28710774070B}" srcOrd="1" destOrd="0" presId="urn:microsoft.com/office/officeart/2018/2/layout/IconVerticalSolidList"/>
    <dgm:cxn modelId="{8C250632-60D4-4813-9B7E-F468D972396C}" type="presParOf" srcId="{9887B295-B446-4B8E-AEA4-76754DE9DD89}" destId="{2FFC6342-A780-4396-8FAC-8E7FAE77A6E2}" srcOrd="2" destOrd="0" presId="urn:microsoft.com/office/officeart/2018/2/layout/IconVerticalSolidList"/>
    <dgm:cxn modelId="{84E4FB42-7EF6-4E5B-9E43-2F003B8E5D13}" type="presParOf" srcId="{9887B295-B446-4B8E-AEA4-76754DE9DD89}" destId="{D5847293-6F0A-4807-B203-585610F4F5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D957C-BFAC-446D-9573-48333BEC34E6}">
      <dsp:nvSpPr>
        <dsp:cNvPr id="0" name=""/>
        <dsp:cNvSpPr/>
      </dsp:nvSpPr>
      <dsp:spPr>
        <a:xfrm>
          <a:off x="0" y="6199"/>
          <a:ext cx="6833937" cy="1609834"/>
        </a:xfrm>
        <a:prstGeom prst="rect">
          <a:avLst/>
        </a:prstGeom>
        <a:solidFill>
          <a:schemeClr val="tx1">
            <a:alpha val="7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6B2CCF-B717-4C6F-9115-44EF0ECE6018}">
      <dsp:nvSpPr>
        <dsp:cNvPr id="0" name=""/>
        <dsp:cNvSpPr/>
      </dsp:nvSpPr>
      <dsp:spPr>
        <a:xfrm>
          <a:off x="449026" y="560974"/>
          <a:ext cx="500285" cy="5002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5AF6F0-F4DA-48FE-85EB-61ADFB42AA13}">
      <dsp:nvSpPr>
        <dsp:cNvPr id="0" name=""/>
        <dsp:cNvSpPr/>
      </dsp:nvSpPr>
      <dsp:spPr>
        <a:xfrm>
          <a:off x="948180" y="6199"/>
          <a:ext cx="5873078" cy="1609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374" tIns="170374" rIns="170374" bIns="170374" numCol="1" spcCol="1270" anchor="ctr" anchorCtr="0">
          <a:noAutofit/>
        </a:bodyPr>
        <a:lstStyle/>
        <a:p>
          <a:pPr lvl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noProof="0" dirty="0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The problem: Customer retention is cheaper than acquisition. Losing customers cost </a:t>
          </a:r>
          <a:r>
            <a:rPr lang="en-US" sz="2100" kern="1200" noProof="0" dirty="0" err="1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SyriaTel</a:t>
          </a:r>
          <a:r>
            <a:rPr lang="en-US" sz="2100" kern="1200" noProof="0" dirty="0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 revenue and market share</a:t>
          </a:r>
          <a:endParaRPr lang="en-US" sz="2100" kern="1200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sp:txBody>
      <dsp:txXfrm>
        <a:off x="948180" y="6199"/>
        <a:ext cx="5873078" cy="1609834"/>
      </dsp:txXfrm>
    </dsp:sp>
    <dsp:sp modelId="{79919C57-A32A-40F6-B106-B4E0CE644E4C}">
      <dsp:nvSpPr>
        <dsp:cNvPr id="0" name=""/>
        <dsp:cNvSpPr/>
      </dsp:nvSpPr>
      <dsp:spPr>
        <a:xfrm>
          <a:off x="0" y="2018493"/>
          <a:ext cx="6833937" cy="1609834"/>
        </a:xfrm>
        <a:prstGeom prst="rect">
          <a:avLst/>
        </a:prstGeom>
        <a:solidFill>
          <a:srgbClr val="000000">
            <a:alpha val="7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FDF55F-B3E9-423D-AD21-A6446C5D7455}">
      <dsp:nvSpPr>
        <dsp:cNvPr id="0" name=""/>
        <dsp:cNvSpPr/>
      </dsp:nvSpPr>
      <dsp:spPr>
        <a:xfrm>
          <a:off x="449026" y="2573267"/>
          <a:ext cx="500285" cy="5002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F6AD63-74FB-40E4-9D40-4178AFD87F60}">
      <dsp:nvSpPr>
        <dsp:cNvPr id="0" name=""/>
        <dsp:cNvSpPr/>
      </dsp:nvSpPr>
      <dsp:spPr>
        <a:xfrm>
          <a:off x="1398339" y="2018493"/>
          <a:ext cx="4972760" cy="1609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374" tIns="170374" rIns="170374" bIns="170374" numCol="1" spcCol="1270" anchor="ctr" anchorCtr="0">
          <a:noAutofit/>
        </a:bodyPr>
        <a:lstStyle/>
        <a:p>
          <a:pPr lvl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noProof="0" dirty="0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The goal: Move from reactive (fixing problem after they leave) to proactive (identifying risk before they leave)</a:t>
          </a:r>
          <a:endParaRPr lang="en-US" sz="2100" kern="1200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sp:txBody>
      <dsp:txXfrm>
        <a:off x="1398339" y="2018493"/>
        <a:ext cx="4972760" cy="1609834"/>
      </dsp:txXfrm>
    </dsp:sp>
    <dsp:sp modelId="{436A8B1C-2D30-44BB-9150-7099503C8960}">
      <dsp:nvSpPr>
        <dsp:cNvPr id="0" name=""/>
        <dsp:cNvSpPr/>
      </dsp:nvSpPr>
      <dsp:spPr>
        <a:xfrm>
          <a:off x="0" y="4030786"/>
          <a:ext cx="6833937" cy="1609834"/>
        </a:xfrm>
        <a:prstGeom prst="rect">
          <a:avLst/>
        </a:prstGeom>
        <a:solidFill>
          <a:srgbClr val="000000">
            <a:alpha val="7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8B8B62-3037-4506-89D7-28710774070B}">
      <dsp:nvSpPr>
        <dsp:cNvPr id="0" name=""/>
        <dsp:cNvSpPr/>
      </dsp:nvSpPr>
      <dsp:spPr>
        <a:xfrm>
          <a:off x="428879" y="4628973"/>
          <a:ext cx="413461" cy="4134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847293-6F0A-4807-B203-585610F4F535}">
      <dsp:nvSpPr>
        <dsp:cNvPr id="0" name=""/>
        <dsp:cNvSpPr/>
      </dsp:nvSpPr>
      <dsp:spPr>
        <a:xfrm>
          <a:off x="1271220" y="4030786"/>
          <a:ext cx="4972760" cy="1609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374" tIns="170374" rIns="170374" bIns="170374" numCol="1" spcCol="1270" anchor="ctr" anchorCtr="0">
          <a:noAutofit/>
        </a:bodyPr>
        <a:lstStyle/>
        <a:p>
          <a:pPr lvl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noProof="0" dirty="0" smtClean="0">
              <a:solidFill>
                <a:schemeClr val="bg1"/>
              </a:solidFill>
              <a:effectLst>
                <a:glow rad="152400">
                  <a:schemeClr val="bg1">
                    <a:alpha val="19000"/>
                  </a:schemeClr>
                </a:glow>
              </a:effectLst>
            </a:rPr>
            <a:t>The solution: A predictive model to flag high risk customers,</a:t>
          </a:r>
          <a:endParaRPr lang="en-US" sz="2100" kern="1200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sp:txBody>
      <dsp:txXfrm>
        <a:off x="1271220" y="4030786"/>
        <a:ext cx="4972760" cy="1609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62EC2-9403-4E3F-B9EE-AC16CAC60F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89550C-613B-478E-B802-C73E628524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9C108-6DA3-45F2-AE7E-50E80854775B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13C7E-277B-477F-B8EF-FBEECB8A1F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96058-9ECC-48B6-8A85-7E3A3E39E8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ED09B-8056-4B81-BB5B-ECA7E0231E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30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A73B2-5605-4CC4-ADC6-622651651079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D664B-377C-4B68-AF4E-EBDA643118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4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299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748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64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70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39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028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18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451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991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77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27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561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8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8993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98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35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16C4C9A-3960-41CF-A4E9-2A8FB932454B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8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42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23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9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981E6A2-4656-4CFE-9BF4-39D81EE2C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594153"/>
            <a:ext cx="4486656" cy="1231106"/>
          </a:xfrm>
          <a:noFill/>
          <a:ln>
            <a:solidFill>
              <a:schemeClr val="tx1"/>
            </a:solidFill>
          </a:ln>
          <a:effectLst>
            <a:glow rad="152400">
              <a:schemeClr val="tx1">
                <a:alpha val="13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chemeClr val="tx1"/>
                </a:solidFill>
              </a:rPr>
              <a:t>Preventing customer churn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981815"/>
            <a:ext cx="4486656" cy="702702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 smtClean="0">
                <a:solidFill>
                  <a:schemeClr val="tx1"/>
                </a:solidFill>
              </a:rPr>
              <a:t>At-Risk Customers at </a:t>
            </a:r>
            <a:r>
              <a:rPr lang="en-US" sz="1800" dirty="0" err="1" smtClean="0">
                <a:solidFill>
                  <a:schemeClr val="tx1"/>
                </a:solidFill>
              </a:rPr>
              <a:t>SyriaTel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 smtClean="0">
                <a:solidFill>
                  <a:schemeClr val="tx1"/>
                </a:solidFill>
              </a:rPr>
              <a:t>SHEILLA KAVINYA MULI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 descr="Finance trade numbers">
            <a:extLst>
              <a:ext uri="{FF2B5EF4-FFF2-40B4-BE49-F238E27FC236}">
                <a16:creationId xmlns:a16="http://schemas.microsoft.com/office/drawing/2014/main" id="{112B9624-F8A1-4831-AE43-1D9E266CFF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DE503-F7C2-4A40-83F4-4DE931E7D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Need to know</a:t>
            </a:r>
          </a:p>
        </p:txBody>
      </p:sp>
      <p:pic>
        <p:nvPicPr>
          <p:cNvPr id="4" name="Picture 3" descr="Finance trade numbers">
            <a:extLst>
              <a:ext uri="{FF2B5EF4-FFF2-40B4-BE49-F238E27FC236}">
                <a16:creationId xmlns:a16="http://schemas.microsoft.com/office/drawing/2014/main" id="{32F354A1-38C7-4598-A0E1-7A286A3019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50908" y="0"/>
            <a:ext cx="7541091" cy="6858000"/>
          </a:xfrm>
          <a:prstGeom prst="rect">
            <a:avLst/>
          </a:prstGeom>
        </p:spPr>
      </p:pic>
      <p:graphicFrame>
        <p:nvGraphicFramePr>
          <p:cNvPr id="5" name="Content Placeholder 2" descr="Icon Bullets">
            <a:extLst>
              <a:ext uri="{FF2B5EF4-FFF2-40B4-BE49-F238E27FC236}">
                <a16:creationId xmlns:a16="http://schemas.microsoft.com/office/drawing/2014/main" id="{51938B4F-26EE-4238-880D-3CE26A7E4A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067306"/>
              </p:ext>
            </p:extLst>
          </p:nvPr>
        </p:nvGraphicFramePr>
        <p:xfrm>
          <a:off x="5021179" y="513347"/>
          <a:ext cx="6833937" cy="5646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2431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78894-19E5-4916-B37E-B4A80B9B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171" y="2681103"/>
            <a:ext cx="3363974" cy="1495794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>
            <a:normAutofit fontScale="90000"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BUSINESS AND DATA UNDERSTANDING</a:t>
            </a: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5" descr="Financial Chart">
            <a:extLst>
              <a:ext uri="{FF2B5EF4-FFF2-40B4-BE49-F238E27FC236}">
                <a16:creationId xmlns:a16="http://schemas.microsoft.com/office/drawing/2014/main" id="{553FBC4F-691A-471D-8ADC-EEE7AF67D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651810"/>
              </p:ext>
            </p:extLst>
          </p:nvPr>
        </p:nvGraphicFramePr>
        <p:xfrm>
          <a:off x="6352674" y="5888356"/>
          <a:ext cx="219576" cy="45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72716" y="272717"/>
            <a:ext cx="689810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Data Sources : Analyzed records of 3335 customers</a:t>
            </a:r>
          </a:p>
          <a:p>
            <a:endParaRPr lang="en-US" sz="3600" dirty="0"/>
          </a:p>
          <a:p>
            <a:r>
              <a:rPr lang="en-US" sz="3600" dirty="0" smtClean="0"/>
              <a:t>What was looks at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Usage(Day/Night minutes)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Customer Service interactions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Plan details (International, voicemail)</a:t>
            </a:r>
          </a:p>
          <a:p>
            <a:endParaRPr lang="en-US" sz="3600" dirty="0"/>
          </a:p>
          <a:p>
            <a:r>
              <a:rPr lang="en-US" sz="3600" dirty="0" smtClean="0"/>
              <a:t>The big concern: Can we find a pattern in the behavior of customers who left?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28952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15107-5DA3-4397-A1DA-67705DAE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 w="31750" cap="sq">
            <a:solidFill>
              <a:srgbClr val="FFFFFF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MODELING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5" y="465222"/>
            <a:ext cx="7090610" cy="588745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model was a churn classifier. </a:t>
            </a:r>
          </a:p>
          <a:p>
            <a:r>
              <a:rPr lang="en-US" sz="2800" dirty="0" smtClean="0"/>
              <a:t>The model was fed the model historical data of customers who stayed vs the ones who left.</a:t>
            </a:r>
          </a:p>
          <a:p>
            <a:r>
              <a:rPr lang="en-US" sz="2800" dirty="0" smtClean="0"/>
              <a:t>Learning: The model learned the fingerprint of a churner</a:t>
            </a:r>
          </a:p>
          <a:p>
            <a:r>
              <a:rPr lang="en-US" sz="2800" dirty="0" smtClean="0"/>
              <a:t>The model was then tested it on unseen data to ensure reliability.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700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15107-5DA3-4397-A1DA-67705DAE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 w="31750" cap="sq">
            <a:solidFill>
              <a:srgbClr val="FFFFFF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 fontScale="90000"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EVALUATION (PERFORMANCE)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136" y="898358"/>
            <a:ext cx="6769769" cy="534202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Accuracy: The model correctly identifies customer status 88% of the time </a:t>
            </a:r>
          </a:p>
          <a:p>
            <a:r>
              <a:rPr lang="en-US" sz="3200" dirty="0" smtClean="0"/>
              <a:t>Key metric(Recall): Crucially, it catches 99% of the customers who are actually about to leave</a:t>
            </a:r>
          </a:p>
          <a:p>
            <a:r>
              <a:rPr lang="en-US" sz="3200" dirty="0" smtClean="0"/>
              <a:t>Business impact: By using this model, we can intervene with potential churners we would have otherwise missed</a:t>
            </a:r>
          </a:p>
        </p:txBody>
      </p:sp>
    </p:spTree>
    <p:extLst>
      <p:ext uri="{BB962C8B-B14F-4D97-AF65-F5344CB8AC3E}">
        <p14:creationId xmlns:p14="http://schemas.microsoft.com/office/powerpoint/2010/main" val="81961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78894-19E5-4916-B37E-B4A80B9B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171" y="2681103"/>
            <a:ext cx="3363974" cy="1495794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>
            <a:norm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KEY INSIGHTS </a:t>
            </a: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5" descr="Financial Chart">
            <a:extLst>
              <a:ext uri="{FF2B5EF4-FFF2-40B4-BE49-F238E27FC236}">
                <a16:creationId xmlns:a16="http://schemas.microsoft.com/office/drawing/2014/main" id="{553FBC4F-691A-471D-8ADC-EEE7AF67D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651810"/>
              </p:ext>
            </p:extLst>
          </p:nvPr>
        </p:nvGraphicFramePr>
        <p:xfrm>
          <a:off x="6352674" y="5888356"/>
          <a:ext cx="219576" cy="45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3137" y="545432"/>
            <a:ext cx="645771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Customers with international plans but no voicemail leave at a high rate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Customers who call customer service more than 3 times are highly likely to churn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73" y="2368730"/>
            <a:ext cx="6438399" cy="41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99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65" y="978776"/>
            <a:ext cx="4451773" cy="1174991"/>
          </a:xfrm>
          <a:noFill/>
          <a:ln w="31750" cap="sq">
            <a:solidFill>
              <a:schemeClr val="bg1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RECOMMENDATIONS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Hand with pen pointing at financial numbers">
            <a:extLst>
              <a:ext uri="{FF2B5EF4-FFF2-40B4-BE49-F238E27FC236}">
                <a16:creationId xmlns:a16="http://schemas.microsoft.com/office/drawing/2014/main" id="{AB2E0BE0-B684-4228-A4DF-58C8CAFFDF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D1328-A694-4327-A93A-3D919FD6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516" y="2310064"/>
            <a:ext cx="6288505" cy="4106778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The service recovery protocol:  Automatically flag any customer who calls support a 3</a:t>
            </a:r>
            <a:r>
              <a:rPr lang="en-US" sz="2400" baseline="30000" dirty="0" smtClean="0">
                <a:solidFill>
                  <a:schemeClr val="bg1"/>
                </a:solidFill>
              </a:rPr>
              <a:t>rd</a:t>
            </a:r>
            <a:r>
              <a:rPr lang="en-US" sz="2400" dirty="0" smtClean="0">
                <a:solidFill>
                  <a:schemeClr val="bg1"/>
                </a:solidFill>
              </a:rPr>
              <a:t> time for a “VIP supervisor” follow up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Targeted offers: Create a specialized international bundle that includes voicemail to reduce friction for international travelers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Proactive outreach: Send retention offers to high usage customers before their contract renewal date.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84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78894-19E5-4916-B37E-B4A80B9B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171" y="2681103"/>
            <a:ext cx="3363974" cy="1495794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>
            <a:norm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NEXT STEPS </a:t>
            </a: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5" descr="Financial Chart">
            <a:extLst>
              <a:ext uri="{FF2B5EF4-FFF2-40B4-BE49-F238E27FC236}">
                <a16:creationId xmlns:a16="http://schemas.microsoft.com/office/drawing/2014/main" id="{553FBC4F-691A-471D-8ADC-EEE7AF67D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651810"/>
              </p:ext>
            </p:extLst>
          </p:nvPr>
        </p:nvGraphicFramePr>
        <p:xfrm>
          <a:off x="6352674" y="5888356"/>
          <a:ext cx="219576" cy="45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61474" y="866274"/>
            <a:ext cx="61762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Integrate this model into the Call Center dashboard (to provide real time alerts)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Collect data on the reason for a client leaving (price vs service) to refine the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Run an A/B test: offer a discount to the flagged group and measure how many stay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10247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971" y="2841509"/>
            <a:ext cx="4451773" cy="1174991"/>
          </a:xfrm>
          <a:noFill/>
          <a:ln w="31750" cap="sq">
            <a:solidFill>
              <a:schemeClr val="bg1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4" name="Picture 3" descr="Hand with pen pointing at financial numbers">
            <a:extLst>
              <a:ext uri="{FF2B5EF4-FFF2-40B4-BE49-F238E27FC236}">
                <a16:creationId xmlns:a16="http://schemas.microsoft.com/office/drawing/2014/main" id="{AB2E0BE0-B684-4228-A4DF-58C8CAFFDF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5633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E38AEF-4E2D-4D00-9707-4356DDB77317}">
  <ds:schemaRefs>
    <ds:schemaRef ds:uri="http://www.w3.org/XML/1998/namespace"/>
    <ds:schemaRef ds:uri="http://schemas.microsoft.com/office/2006/documentManagement/types"/>
    <ds:schemaRef ds:uri="16c05727-aa75-4e4a-9b5f-8a80a1165891"/>
    <ds:schemaRef ds:uri="71af3243-3dd4-4a8d-8c0d-dd76da1f02a5"/>
    <ds:schemaRef ds:uri="http://schemas.microsoft.com/office/infopath/2007/PartnerControl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7235C91-959C-45D9-B60A-005B894ACE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F06AFC-006B-4BB6-8B59-5A9E1B0534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0</TotalTime>
  <Words>362</Words>
  <Application>Microsoft Office PowerPoint</Application>
  <PresentationFormat>Widescreen</PresentationFormat>
  <Paragraphs>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Gill Sans MT</vt:lpstr>
      <vt:lpstr>Parcel</vt:lpstr>
      <vt:lpstr>Preventing customer churn</vt:lpstr>
      <vt:lpstr>Need to know</vt:lpstr>
      <vt:lpstr>BUSINESS AND DATA UNDERSTANDING</vt:lpstr>
      <vt:lpstr>MODELING</vt:lpstr>
      <vt:lpstr>EVALUATION (PERFORMANCE)</vt:lpstr>
      <vt:lpstr>KEY INSIGHTS </vt:lpstr>
      <vt:lpstr>RECOMMENDATIONS</vt:lpstr>
      <vt:lpstr>NEXT STEPS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2025-12-16T18:41:27Z</dcterms:created>
  <dcterms:modified xsi:type="dcterms:W3CDTF">2025-12-16T20:23:43Z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